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1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90" y="-10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8295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68772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991311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09918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16992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94853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032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0575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437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37993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704457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6607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31789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800053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229780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607457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16309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E0254F8-EA1E-4190-9E7C-C0EBFFD65A44}" type="datetimeFigureOut">
              <a:rPr lang="tr-TR" smtClean="0"/>
              <a:t>11.03.2026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017205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976BAAA-75A1-48AA-B7DE-B6B80709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2121F4-088A-EDD4-D233-2AD62F8310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17428" y="1257301"/>
            <a:ext cx="2450127" cy="4343399"/>
          </a:xfrm>
          <a:effectLst/>
        </p:spPr>
        <p:txBody>
          <a:bodyPr anchor="ctr">
            <a:normAutofit/>
          </a:bodyPr>
          <a:lstStyle/>
          <a:p>
            <a:pPr algn="l"/>
            <a:endParaRPr lang="tr-TR"/>
          </a:p>
          <a:p>
            <a:pPr algn="l"/>
            <a:r>
              <a:rPr lang="tr-TR"/>
              <a:t>Hazırlayan: Emirhan AYDIN</a:t>
            </a: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65A5F259-CDF7-4A15-A66C-A9939D23E3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2"/>
            <a:ext cx="8386486" cy="6858002"/>
          </a:xfrm>
          <a:custGeom>
            <a:avLst/>
            <a:gdLst>
              <a:gd name="connsiteX0" fmla="*/ 0 w 6088489"/>
              <a:gd name="connsiteY0" fmla="*/ 0 h 6858002"/>
              <a:gd name="connsiteX1" fmla="*/ 3563332 w 6088489"/>
              <a:gd name="connsiteY1" fmla="*/ 0 h 6858002"/>
              <a:gd name="connsiteX2" fmla="*/ 3563332 w 6088489"/>
              <a:gd name="connsiteY2" fmla="*/ 3 h 6858002"/>
              <a:gd name="connsiteX3" fmla="*/ 5842099 w 6088489"/>
              <a:gd name="connsiteY3" fmla="*/ 3 h 6858002"/>
              <a:gd name="connsiteX4" fmla="*/ 5842099 w 6088489"/>
              <a:gd name="connsiteY4" fmla="*/ 4 h 6858002"/>
              <a:gd name="connsiteX5" fmla="*/ 5835346 w 6088489"/>
              <a:gd name="connsiteY5" fmla="*/ 4 h 6858002"/>
              <a:gd name="connsiteX6" fmla="*/ 5841229 w 6088489"/>
              <a:gd name="connsiteY6" fmla="*/ 40466 h 6858002"/>
              <a:gd name="connsiteX7" fmla="*/ 5858543 w 6088489"/>
              <a:gd name="connsiteY7" fmla="*/ 159110 h 6858002"/>
              <a:gd name="connsiteX8" fmla="*/ 5870645 w 6088489"/>
              <a:gd name="connsiteY8" fmla="*/ 245521 h 6858002"/>
              <a:gd name="connsiteX9" fmla="*/ 5883420 w 6088489"/>
              <a:gd name="connsiteY9" fmla="*/ 348391 h 6858002"/>
              <a:gd name="connsiteX10" fmla="*/ 5898716 w 6088489"/>
              <a:gd name="connsiteY10" fmla="*/ 470463 h 6858002"/>
              <a:gd name="connsiteX11" fmla="*/ 5914853 w 6088489"/>
              <a:gd name="connsiteY11" fmla="*/ 605566 h 6858002"/>
              <a:gd name="connsiteX12" fmla="*/ 5931830 w 6088489"/>
              <a:gd name="connsiteY12" fmla="*/ 757813 h 6858002"/>
              <a:gd name="connsiteX13" fmla="*/ 5949815 w 6088489"/>
              <a:gd name="connsiteY13" fmla="*/ 923777 h 6858002"/>
              <a:gd name="connsiteX14" fmla="*/ 5967801 w 6088489"/>
              <a:gd name="connsiteY14" fmla="*/ 1104142 h 6858002"/>
              <a:gd name="connsiteX15" fmla="*/ 5986122 w 6088489"/>
              <a:gd name="connsiteY15" fmla="*/ 1296166 h 6858002"/>
              <a:gd name="connsiteX16" fmla="*/ 6003099 w 6088489"/>
              <a:gd name="connsiteY16" fmla="*/ 1503278 h 6858002"/>
              <a:gd name="connsiteX17" fmla="*/ 6019404 w 6088489"/>
              <a:gd name="connsiteY17" fmla="*/ 1719991 h 6858002"/>
              <a:gd name="connsiteX18" fmla="*/ 6034196 w 6088489"/>
              <a:gd name="connsiteY18" fmla="*/ 1949048 h 6858002"/>
              <a:gd name="connsiteX19" fmla="*/ 6048315 w 6088489"/>
              <a:gd name="connsiteY19" fmla="*/ 2187706 h 6858002"/>
              <a:gd name="connsiteX20" fmla="*/ 6061595 w 6088489"/>
              <a:gd name="connsiteY20" fmla="*/ 2436652 h 6858002"/>
              <a:gd name="connsiteX21" fmla="*/ 6066301 w 6088489"/>
              <a:gd name="connsiteY21" fmla="*/ 2564211 h 6858002"/>
              <a:gd name="connsiteX22" fmla="*/ 6071512 w 6088489"/>
              <a:gd name="connsiteY22" fmla="*/ 2694512 h 6858002"/>
              <a:gd name="connsiteX23" fmla="*/ 6076386 w 6088489"/>
              <a:gd name="connsiteY23" fmla="*/ 2826871 h 6858002"/>
              <a:gd name="connsiteX24" fmla="*/ 6079580 w 6088489"/>
              <a:gd name="connsiteY24" fmla="*/ 2959917 h 6858002"/>
              <a:gd name="connsiteX25" fmla="*/ 6082438 w 6088489"/>
              <a:gd name="connsiteY25" fmla="*/ 3095705 h 6858002"/>
              <a:gd name="connsiteX26" fmla="*/ 6085463 w 6088489"/>
              <a:gd name="connsiteY26" fmla="*/ 3232865 h 6858002"/>
              <a:gd name="connsiteX27" fmla="*/ 6087480 w 6088489"/>
              <a:gd name="connsiteY27" fmla="*/ 3372768 h 6858002"/>
              <a:gd name="connsiteX28" fmla="*/ 6087480 w 6088489"/>
              <a:gd name="connsiteY28" fmla="*/ 3514043 h 6858002"/>
              <a:gd name="connsiteX29" fmla="*/ 6088489 w 6088489"/>
              <a:gd name="connsiteY29" fmla="*/ 3656689 h 6858002"/>
              <a:gd name="connsiteX30" fmla="*/ 6087480 w 6088489"/>
              <a:gd name="connsiteY30" fmla="*/ 3800707 h 6858002"/>
              <a:gd name="connsiteX31" fmla="*/ 6085463 w 6088489"/>
              <a:gd name="connsiteY31" fmla="*/ 3946783 h 6858002"/>
              <a:gd name="connsiteX32" fmla="*/ 6083614 w 6088489"/>
              <a:gd name="connsiteY32" fmla="*/ 4092858 h 6858002"/>
              <a:gd name="connsiteX33" fmla="*/ 6079580 w 6088489"/>
              <a:gd name="connsiteY33" fmla="*/ 4240991 h 6858002"/>
              <a:gd name="connsiteX34" fmla="*/ 6075378 w 6088489"/>
              <a:gd name="connsiteY34" fmla="*/ 4390495 h 6858002"/>
              <a:gd name="connsiteX35" fmla="*/ 6070503 w 6088489"/>
              <a:gd name="connsiteY35" fmla="*/ 4540000 h 6858002"/>
              <a:gd name="connsiteX36" fmla="*/ 6063612 w 6088489"/>
              <a:gd name="connsiteY36" fmla="*/ 4690876 h 6858002"/>
              <a:gd name="connsiteX37" fmla="*/ 6055375 w 6088489"/>
              <a:gd name="connsiteY37" fmla="*/ 4843123 h 6858002"/>
              <a:gd name="connsiteX38" fmla="*/ 6047475 w 6088489"/>
              <a:gd name="connsiteY38" fmla="*/ 4996057 h 6858002"/>
              <a:gd name="connsiteX39" fmla="*/ 6037390 w 6088489"/>
              <a:gd name="connsiteY39" fmla="*/ 5148990 h 6858002"/>
              <a:gd name="connsiteX40" fmla="*/ 6025287 w 6088489"/>
              <a:gd name="connsiteY40" fmla="*/ 5303981 h 6858002"/>
              <a:gd name="connsiteX41" fmla="*/ 6013185 w 6088489"/>
              <a:gd name="connsiteY41" fmla="*/ 5456914 h 6858002"/>
              <a:gd name="connsiteX42" fmla="*/ 5999233 w 6088489"/>
              <a:gd name="connsiteY42" fmla="*/ 5612591 h 6858002"/>
              <a:gd name="connsiteX43" fmla="*/ 5983937 w 6088489"/>
              <a:gd name="connsiteY43" fmla="*/ 5768953 h 6858002"/>
              <a:gd name="connsiteX44" fmla="*/ 5967801 w 6088489"/>
              <a:gd name="connsiteY44" fmla="*/ 5923258 h 6858002"/>
              <a:gd name="connsiteX45" fmla="*/ 5948975 w 6088489"/>
              <a:gd name="connsiteY45" fmla="*/ 6079621 h 6858002"/>
              <a:gd name="connsiteX46" fmla="*/ 5928804 w 6088489"/>
              <a:gd name="connsiteY46" fmla="*/ 6235297 h 6858002"/>
              <a:gd name="connsiteX47" fmla="*/ 5908801 w 6088489"/>
              <a:gd name="connsiteY47" fmla="*/ 6391660 h 6858002"/>
              <a:gd name="connsiteX48" fmla="*/ 5885437 w 6088489"/>
              <a:gd name="connsiteY48" fmla="*/ 6547336 h 6858002"/>
              <a:gd name="connsiteX49" fmla="*/ 5861568 w 6088489"/>
              <a:gd name="connsiteY49" fmla="*/ 6702327 h 6858002"/>
              <a:gd name="connsiteX50" fmla="*/ 5836524 w 6088489"/>
              <a:gd name="connsiteY50" fmla="*/ 6858002 h 6858002"/>
              <a:gd name="connsiteX51" fmla="*/ 3563332 w 6088489"/>
              <a:gd name="connsiteY51" fmla="*/ 6858002 h 6858002"/>
              <a:gd name="connsiteX52" fmla="*/ 1223490 w 6088489"/>
              <a:gd name="connsiteY52" fmla="*/ 6858002 h 6858002"/>
              <a:gd name="connsiteX53" fmla="*/ 0 w 6088489"/>
              <a:gd name="connsiteY53" fmla="*/ 6858002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6088489" h="6858002">
                <a:moveTo>
                  <a:pt x="0" y="0"/>
                </a:moveTo>
                <a:lnTo>
                  <a:pt x="3563332" y="0"/>
                </a:lnTo>
                <a:lnTo>
                  <a:pt x="3563332" y="3"/>
                </a:lnTo>
                <a:lnTo>
                  <a:pt x="5842099" y="3"/>
                </a:lnTo>
                <a:lnTo>
                  <a:pt x="5842099" y="4"/>
                </a:lnTo>
                <a:lnTo>
                  <a:pt x="5835346" y="4"/>
                </a:lnTo>
                <a:lnTo>
                  <a:pt x="5841229" y="40466"/>
                </a:lnTo>
                <a:lnTo>
                  <a:pt x="5858543" y="159110"/>
                </a:lnTo>
                <a:lnTo>
                  <a:pt x="5870645" y="245521"/>
                </a:lnTo>
                <a:lnTo>
                  <a:pt x="5883420" y="348391"/>
                </a:lnTo>
                <a:lnTo>
                  <a:pt x="5898716" y="470463"/>
                </a:lnTo>
                <a:lnTo>
                  <a:pt x="5914853" y="605566"/>
                </a:lnTo>
                <a:lnTo>
                  <a:pt x="5931830" y="757813"/>
                </a:lnTo>
                <a:lnTo>
                  <a:pt x="5949815" y="923777"/>
                </a:lnTo>
                <a:lnTo>
                  <a:pt x="5967801" y="1104142"/>
                </a:lnTo>
                <a:lnTo>
                  <a:pt x="5986122" y="1296166"/>
                </a:lnTo>
                <a:lnTo>
                  <a:pt x="6003099" y="1503278"/>
                </a:lnTo>
                <a:lnTo>
                  <a:pt x="6019404" y="1719991"/>
                </a:lnTo>
                <a:lnTo>
                  <a:pt x="6034196" y="1949048"/>
                </a:lnTo>
                <a:lnTo>
                  <a:pt x="6048315" y="2187706"/>
                </a:lnTo>
                <a:lnTo>
                  <a:pt x="6061595" y="2436652"/>
                </a:lnTo>
                <a:lnTo>
                  <a:pt x="6066301" y="2564211"/>
                </a:lnTo>
                <a:lnTo>
                  <a:pt x="6071512" y="2694512"/>
                </a:lnTo>
                <a:lnTo>
                  <a:pt x="6076386" y="2826871"/>
                </a:lnTo>
                <a:lnTo>
                  <a:pt x="6079580" y="2959917"/>
                </a:lnTo>
                <a:lnTo>
                  <a:pt x="6082438" y="3095705"/>
                </a:lnTo>
                <a:lnTo>
                  <a:pt x="6085463" y="3232865"/>
                </a:lnTo>
                <a:lnTo>
                  <a:pt x="6087480" y="3372768"/>
                </a:lnTo>
                <a:lnTo>
                  <a:pt x="6087480" y="3514043"/>
                </a:lnTo>
                <a:lnTo>
                  <a:pt x="6088489" y="3656689"/>
                </a:lnTo>
                <a:lnTo>
                  <a:pt x="6087480" y="3800707"/>
                </a:lnTo>
                <a:lnTo>
                  <a:pt x="6085463" y="3946783"/>
                </a:lnTo>
                <a:lnTo>
                  <a:pt x="6083614" y="4092858"/>
                </a:lnTo>
                <a:lnTo>
                  <a:pt x="6079580" y="4240991"/>
                </a:lnTo>
                <a:lnTo>
                  <a:pt x="6075378" y="4390495"/>
                </a:lnTo>
                <a:lnTo>
                  <a:pt x="6070503" y="4540000"/>
                </a:lnTo>
                <a:lnTo>
                  <a:pt x="6063612" y="4690876"/>
                </a:lnTo>
                <a:lnTo>
                  <a:pt x="6055375" y="4843123"/>
                </a:lnTo>
                <a:lnTo>
                  <a:pt x="6047475" y="4996057"/>
                </a:lnTo>
                <a:lnTo>
                  <a:pt x="6037390" y="5148990"/>
                </a:lnTo>
                <a:lnTo>
                  <a:pt x="6025287" y="5303981"/>
                </a:lnTo>
                <a:lnTo>
                  <a:pt x="6013185" y="5456914"/>
                </a:lnTo>
                <a:lnTo>
                  <a:pt x="5999233" y="5612591"/>
                </a:lnTo>
                <a:lnTo>
                  <a:pt x="5983937" y="5768953"/>
                </a:lnTo>
                <a:lnTo>
                  <a:pt x="5967801" y="5923258"/>
                </a:lnTo>
                <a:lnTo>
                  <a:pt x="5948975" y="6079621"/>
                </a:lnTo>
                <a:lnTo>
                  <a:pt x="5928804" y="6235297"/>
                </a:lnTo>
                <a:lnTo>
                  <a:pt x="5908801" y="6391660"/>
                </a:lnTo>
                <a:lnTo>
                  <a:pt x="5885437" y="6547336"/>
                </a:lnTo>
                <a:lnTo>
                  <a:pt x="5861568" y="6702327"/>
                </a:lnTo>
                <a:lnTo>
                  <a:pt x="5836524" y="6858002"/>
                </a:lnTo>
                <a:lnTo>
                  <a:pt x="3563332" y="6858002"/>
                </a:lnTo>
                <a:lnTo>
                  <a:pt x="1223490" y="6858002"/>
                </a:lnTo>
                <a:lnTo>
                  <a:pt x="0" y="6858002"/>
                </a:lnTo>
                <a:close/>
              </a:path>
            </a:pathLst>
          </a:custGeom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CDCDC8-4F0F-3D1E-CE05-00F91BF237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3795" y="1257301"/>
            <a:ext cx="6672865" cy="434339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de-DE" sz="5000" b="1" dirty="0"/>
              <a:t>CNN Modellerinde Performans Sıralamasının Erken Stabilizasyonunun Analizi ve Optimum Epoch Belirlenmesi</a:t>
            </a:r>
            <a:endParaRPr lang="tr-TR" sz="5000" b="1" dirty="0"/>
          </a:p>
        </p:txBody>
      </p:sp>
    </p:spTree>
    <p:extLst>
      <p:ext uri="{BB962C8B-B14F-4D97-AF65-F5344CB8AC3E}">
        <p14:creationId xmlns:p14="http://schemas.microsoft.com/office/powerpoint/2010/main" val="2513961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B5D1C-8EC2-63CF-1B20-5AAAB6007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1. Problem Tanımı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28666-9355-265E-59D5-14D64D1CA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tr-TR" dirty="0"/>
              <a:t>Derin öğrenme modellerinin eğitimi genellikle yüksek hesaplama maliyeti gerektirir.</a:t>
            </a:r>
          </a:p>
          <a:p>
            <a:pPr marL="36900" indent="0">
              <a:buNone/>
            </a:pPr>
            <a:r>
              <a:rPr lang="tr-TR" dirty="0"/>
              <a:t>Model seçimi çoğunlukla:</a:t>
            </a:r>
          </a:p>
          <a:p>
            <a:r>
              <a:rPr lang="tr-TR" dirty="0"/>
              <a:t>Tüm modeller tamamen eğitildikten sonra yapılmaktadır.</a:t>
            </a:r>
          </a:p>
          <a:p>
            <a:r>
              <a:rPr lang="tr-TR" dirty="0"/>
              <a:t>Bu durum gereksiz zaman ve hesaplama maliyetine yol açabilmektedir.</a:t>
            </a:r>
          </a:p>
          <a:p>
            <a:pPr marL="36900" indent="0">
              <a:buNone/>
            </a:pPr>
            <a:r>
              <a:rPr lang="tr-TR" dirty="0"/>
              <a:t>Bu nedenle eğitim sürecinde model performans sıralamasının erken aşamalarda belirlenip belirlenemeyeceği önemli bir araştırma konusudur.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241263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8FC1D-858D-F94D-65E0-EF507595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2. Çalışmanın Amacı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C2929-8BB3-5668-FF28-21B11F8A1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tr-TR" dirty="0"/>
              <a:t>Bu çalışmanın amacı:</a:t>
            </a:r>
          </a:p>
          <a:p>
            <a:r>
              <a:rPr lang="tr-TR" dirty="0"/>
              <a:t>Farklı CNN modellerinin eğitim sürecindeki performans sıralamalarını incelemek</a:t>
            </a:r>
          </a:p>
          <a:p>
            <a:r>
              <a:rPr lang="tr-TR" dirty="0"/>
              <a:t>Nihai performans sıralamasının eğitim sürecinin hangi aşamasında stabil hale geldiğini belirlemek</a:t>
            </a:r>
          </a:p>
          <a:p>
            <a:r>
              <a:rPr lang="tr-TR" dirty="0"/>
              <a:t>Model seçimi için gerekli </a:t>
            </a:r>
            <a:r>
              <a:rPr lang="tr-TR" b="1" dirty="0"/>
              <a:t>minimum epoch sayısını tespit etmektir</a:t>
            </a:r>
            <a:endParaRPr lang="tr-TR" dirty="0"/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587804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1AC15-B075-D165-28B1-13E6169C4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>
            <a:normAutofit/>
          </a:bodyPr>
          <a:lstStyle/>
          <a:p>
            <a:r>
              <a:rPr lang="tr-TR" dirty="0"/>
              <a:t>3. Veri Seti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B9950-2B73-4D63-BCB1-7524EAA78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5546272" cy="4058751"/>
          </a:xfrm>
        </p:spPr>
        <p:txBody>
          <a:bodyPr anchor="ctr">
            <a:normAutofit/>
          </a:bodyPr>
          <a:lstStyle/>
          <a:p>
            <a:pPr marL="36900" indent="0">
              <a:lnSpc>
                <a:spcPct val="90000"/>
              </a:lnSpc>
              <a:buClr>
                <a:srgbClr val="9F3434"/>
              </a:buClr>
              <a:buNone/>
            </a:pPr>
            <a:r>
              <a:rPr lang="tr-TR" dirty="0"/>
              <a:t>Çalışmada </a:t>
            </a:r>
            <a:r>
              <a:rPr lang="tr-TR" b="1" dirty="0"/>
              <a:t>Beyin Tümörü MRI veri seti</a:t>
            </a:r>
            <a:r>
              <a:rPr lang="tr-TR" dirty="0"/>
              <a:t> kullanılmıştır.</a:t>
            </a:r>
          </a:p>
          <a:p>
            <a:pPr marL="36900" indent="0">
              <a:lnSpc>
                <a:spcPct val="90000"/>
              </a:lnSpc>
              <a:buClr>
                <a:srgbClr val="9F3434"/>
              </a:buClr>
              <a:buNone/>
            </a:pPr>
            <a:r>
              <a:rPr lang="tr-TR" dirty="0"/>
              <a:t>Veri setinin özellikleri:</a:t>
            </a:r>
          </a:p>
          <a:p>
            <a:pPr>
              <a:lnSpc>
                <a:spcPct val="90000"/>
              </a:lnSpc>
              <a:buClr>
                <a:srgbClr val="9F3434"/>
              </a:buClr>
            </a:pPr>
            <a:r>
              <a:rPr lang="tr-TR" dirty="0"/>
              <a:t>Görüntü türü: MRI</a:t>
            </a:r>
          </a:p>
          <a:p>
            <a:pPr>
              <a:lnSpc>
                <a:spcPct val="90000"/>
              </a:lnSpc>
              <a:buClr>
                <a:srgbClr val="9F3434"/>
              </a:buClr>
            </a:pPr>
            <a:r>
              <a:rPr lang="tr-TR" dirty="0"/>
              <a:t>Görüntü formatı: Gri tonlamalı (grayscale)</a:t>
            </a:r>
          </a:p>
          <a:p>
            <a:pPr>
              <a:lnSpc>
                <a:spcPct val="90000"/>
              </a:lnSpc>
              <a:buClr>
                <a:srgbClr val="9F3434"/>
              </a:buClr>
            </a:pPr>
            <a:r>
              <a:rPr lang="tr-TR" dirty="0"/>
              <a:t>Sınıf sayısı: 4</a:t>
            </a:r>
          </a:p>
          <a:p>
            <a:pPr>
              <a:lnSpc>
                <a:spcPct val="90000"/>
              </a:lnSpc>
              <a:buClr>
                <a:srgbClr val="9F3434"/>
              </a:buClr>
            </a:pPr>
            <a:r>
              <a:rPr lang="tr-TR" dirty="0"/>
              <a:t>Eğitim ve test veri ayrımı uygulanmıştır. (test seti validation olarak kullanılmıştır)</a:t>
            </a:r>
          </a:p>
          <a:p>
            <a:pPr>
              <a:lnSpc>
                <a:spcPct val="90000"/>
              </a:lnSpc>
              <a:buClr>
                <a:srgbClr val="9F3434"/>
              </a:buClr>
            </a:pPr>
            <a:r>
              <a:rPr lang="tr-TR" dirty="0"/>
              <a:t>Görüntü Boyutu: Çeşitli görüntü boyutları bulunmaktadır. Hepsi 224x224 seviyesine indirilmiştir.</a:t>
            </a:r>
          </a:p>
          <a:p>
            <a:pPr>
              <a:lnSpc>
                <a:spcPct val="90000"/>
              </a:lnSpc>
              <a:buClr>
                <a:srgbClr val="9F3434"/>
              </a:buClr>
            </a:pPr>
            <a:endParaRPr lang="tr-TR" dirty="0"/>
          </a:p>
        </p:txBody>
      </p:sp>
      <p:pic>
        <p:nvPicPr>
          <p:cNvPr id="2055" name="Picture 2054">
            <a:extLst>
              <a:ext uri="{FF2B5EF4-FFF2-40B4-BE49-F238E27FC236}">
                <a16:creationId xmlns:a16="http://schemas.microsoft.com/office/drawing/2014/main" id="{AD661026-DE64-47F1-9F88-0847B5FB3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4200" y="1998132"/>
            <a:ext cx="4333632" cy="3521077"/>
          </a:xfrm>
          <a:prstGeom prst="rect">
            <a:avLst/>
          </a:prstGeom>
        </p:spPr>
      </p:pic>
      <p:pic>
        <p:nvPicPr>
          <p:cNvPr id="2050" name="Picture 2" descr="Classification of Brain Tumors from MRI Images Using a Convolutional Neural  Network">
            <a:extLst>
              <a:ext uri="{FF2B5EF4-FFF2-40B4-BE49-F238E27FC236}">
                <a16:creationId xmlns:a16="http://schemas.microsoft.com/office/drawing/2014/main" id="{A7006EFD-1A74-B168-506E-D821493D4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452"/>
          <a:stretch>
            <a:fillRect/>
          </a:stretch>
        </p:blipFill>
        <p:spPr bwMode="auto">
          <a:xfrm>
            <a:off x="7066560" y="2132822"/>
            <a:ext cx="4065464" cy="3258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2238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9B079-887A-AA55-7717-838A39E1E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73373"/>
            <a:ext cx="10353762" cy="970450"/>
          </a:xfrm>
        </p:spPr>
        <p:txBody>
          <a:bodyPr>
            <a:normAutofit/>
          </a:bodyPr>
          <a:lstStyle/>
          <a:p>
            <a:r>
              <a:rPr lang="tr-TR" dirty="0"/>
              <a:t>4. Kullanılan CNN Modelleri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D2E5FE-EAE4-B004-166C-31723A28DC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0601"/>
            <a:ext cx="12192000" cy="5697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093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9BE22-9BA6-55B4-D0CD-5079504DB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5. Deneysel Kurulum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78F65-833A-8AC1-DD3B-5202311A8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tr-TR" dirty="0"/>
              <a:t>Eğitim sürecinde kullanılan temel parametreler:</a:t>
            </a:r>
          </a:p>
          <a:p>
            <a:r>
              <a:rPr lang="tr-TR" dirty="0"/>
              <a:t>Epoch sayısı: 200</a:t>
            </a:r>
          </a:p>
          <a:p>
            <a:r>
              <a:rPr lang="tr-TR" dirty="0"/>
              <a:t>Batch size: 32</a:t>
            </a:r>
          </a:p>
          <a:p>
            <a:r>
              <a:rPr lang="tr-TR" dirty="0"/>
              <a:t>Optimizer: Adam</a:t>
            </a:r>
          </a:p>
          <a:p>
            <a:r>
              <a:rPr lang="tr-TR" dirty="0"/>
              <a:t>Loss fonksiyonu: Cross Entropy</a:t>
            </a:r>
          </a:p>
          <a:p>
            <a:r>
              <a:rPr lang="tr-TR" dirty="0"/>
              <a:t>Her epoch sonunda modellerin </a:t>
            </a:r>
            <a:r>
              <a:rPr lang="tr-TR" b="1" dirty="0"/>
              <a:t>loss değerleri hesaplanmıştır.</a:t>
            </a:r>
          </a:p>
          <a:p>
            <a:r>
              <a:rPr lang="tr-TR" dirty="0"/>
              <a:t>Early stopping: 7 Epoch patience – validation loss’a göre</a:t>
            </a:r>
          </a:p>
          <a:p>
            <a:r>
              <a:rPr lang="tr-TR" dirty="0"/>
              <a:t>Reduce LR On Plateu: 4 Epoch patience – validation loss’a göre</a:t>
            </a:r>
          </a:p>
          <a:p>
            <a:r>
              <a:rPr lang="tr-TR" dirty="0"/>
              <a:t>Özel şart: Modeller en az 50 epoch eğitilmiştir.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19534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C0BFA-FF69-57B8-0D5E-36905D9BA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dirty="0"/>
              <a:t>6. Yöntem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0690A-E569-116C-3361-E35776E1C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tr-TR" dirty="0"/>
              <a:t>Çalışmanın yöntemi aşağıdaki adımlardan oluşmaktadır:</a:t>
            </a:r>
          </a:p>
          <a:p>
            <a:r>
              <a:rPr lang="tr-TR" dirty="0"/>
              <a:t>Her model için tüm epochlarda elde edilen validation loss değerlerinin en düşüğü, modelin en başarılı hali olarak kabul edilmiştir. (Çünkü eğitime devam edilmesi modelin başarısını düşürebilir.)</a:t>
            </a:r>
          </a:p>
          <a:p>
            <a:r>
              <a:rPr lang="tr-TR" dirty="0"/>
              <a:t>Tüm modellerin en iyi durumları belirlenerek performans sıralaması oluşturulmuştur.</a:t>
            </a:r>
          </a:p>
          <a:p>
            <a:r>
              <a:rPr lang="tr-TR" dirty="0"/>
              <a:t>Ara epochlardaki sıralamalar ile bu “en iyi sıralama” Spearman korelasyonu kullanılarak karşılaştırılmıştır.</a:t>
            </a:r>
          </a:p>
          <a:p>
            <a:pPr lvl="1"/>
            <a:r>
              <a:rPr lang="tr-TR" dirty="0"/>
              <a:t>Hem tüm modellerin sıralamaları</a:t>
            </a:r>
          </a:p>
          <a:p>
            <a:pPr lvl="1"/>
            <a:r>
              <a:rPr lang="tr-TR" dirty="0"/>
              <a:t>Hem de sadece en iyi 3 modelin sıralamaları için ayrı analiz yapılmıştır</a:t>
            </a:r>
          </a:p>
        </p:txBody>
      </p:sp>
    </p:spTree>
    <p:extLst>
      <p:ext uri="{BB962C8B-B14F-4D97-AF65-F5344CB8AC3E}">
        <p14:creationId xmlns:p14="http://schemas.microsoft.com/office/powerpoint/2010/main" val="2109377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7D7EA-9883-0124-13CD-0E1C57A0F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7. Sıralama Analizi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EBAA2-55A6-E86A-BF2B-A3AAEA6E1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tr-TR" dirty="0"/>
              <a:t>Analiz aşamasında şunlar incelenmiştir:</a:t>
            </a:r>
          </a:p>
          <a:p>
            <a:r>
              <a:rPr lang="tr-TR" dirty="0"/>
              <a:t>Her epoch için </a:t>
            </a:r>
            <a:r>
              <a:rPr lang="tr-TR" b="1" dirty="0"/>
              <a:t>model sıralamasının en iyi sıralama ile korelasyonu</a:t>
            </a:r>
            <a:r>
              <a:rPr lang="tr-TR" dirty="0"/>
              <a:t> hesaplanmıştır.</a:t>
            </a:r>
          </a:p>
          <a:p>
            <a:r>
              <a:rPr lang="tr-TR" b="1" dirty="0"/>
              <a:t>Tüm modeller</a:t>
            </a:r>
            <a:r>
              <a:rPr lang="tr-TR" dirty="0"/>
              <a:t> ve </a:t>
            </a:r>
            <a:r>
              <a:rPr lang="tr-TR" b="1" dirty="0"/>
              <a:t>en iyi 3 model</a:t>
            </a:r>
            <a:r>
              <a:rPr lang="tr-TR" dirty="0"/>
              <a:t> için ayrı ayrı değerlendirme yapılmıştır.</a:t>
            </a:r>
          </a:p>
          <a:p>
            <a:r>
              <a:rPr lang="tr-TR" dirty="0"/>
              <a:t>Amaç: Model sıralamasının </a:t>
            </a:r>
            <a:r>
              <a:rPr lang="tr-TR" b="1" dirty="0"/>
              <a:t>hangi epoch’tan itibaren stabil hale geldiğini</a:t>
            </a:r>
            <a:r>
              <a:rPr lang="tr-TR" dirty="0"/>
              <a:t> belirlemek.</a:t>
            </a:r>
          </a:p>
        </p:txBody>
      </p:sp>
    </p:spTree>
    <p:extLst>
      <p:ext uri="{BB962C8B-B14F-4D97-AF65-F5344CB8AC3E}">
        <p14:creationId xmlns:p14="http://schemas.microsoft.com/office/powerpoint/2010/main" val="1871995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10141-8982-84AB-8F20-C08AF3A5B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693" y="4511814"/>
            <a:ext cx="9440034" cy="11302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8. Deney </a:t>
            </a:r>
            <a:r>
              <a:rPr lang="en-US" sz="4800" dirty="0" err="1"/>
              <a:t>Sonuçları</a:t>
            </a:r>
            <a:endParaRPr lang="en-US" sz="48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04C0182-96E7-4A1B-8EAB-F910C2F3ED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022" y="547807"/>
            <a:ext cx="10935956" cy="381680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AF7B9AA-D5D8-9614-5660-7E5FBAD5E9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380" y="839047"/>
            <a:ext cx="4292600" cy="32194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23EDF2F-83A4-BEBE-1044-AE4016F442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5697" y="839047"/>
            <a:ext cx="4292600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56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1B401-A64A-6543-2C56-ADF18AE68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9. Deney Sonuçları</a:t>
            </a:r>
          </a:p>
        </p:txBody>
      </p:sp>
    </p:spTree>
    <p:extLst>
      <p:ext uri="{BB962C8B-B14F-4D97-AF65-F5344CB8AC3E}">
        <p14:creationId xmlns:p14="http://schemas.microsoft.com/office/powerpoint/2010/main" val="14058431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A5A02-C387-3EEE-1C98-6F255751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Gelecek Çalışmalar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36CDE-3FBD-FD5A-F0C6-689218CBA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tr-TR" dirty="0"/>
              <a:t>Gelecekte yapılabilecek çalışmalar:</a:t>
            </a:r>
          </a:p>
          <a:p>
            <a:r>
              <a:rPr lang="tr-TR" dirty="0"/>
              <a:t>Daha farklı veri setleri ile deneylerin tekrarlanması</a:t>
            </a:r>
          </a:p>
          <a:p>
            <a:r>
              <a:rPr lang="tr-TR" dirty="0"/>
              <a:t>Model çeşitliliği artırılarak deneylerin tekrar edilmesi</a:t>
            </a:r>
          </a:p>
          <a:p>
            <a:r>
              <a:rPr lang="tr-TR" dirty="0"/>
              <a:t>Farklı performans metriklerinin incelenmesi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64479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840</TotalTime>
  <Words>389</Words>
  <Application>Microsoft Office PowerPoint</Application>
  <PresentationFormat>Widescreen</PresentationFormat>
  <Paragraphs>52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Calisto MT</vt:lpstr>
      <vt:lpstr>Wingdings 2</vt:lpstr>
      <vt:lpstr>Slate</vt:lpstr>
      <vt:lpstr>CNN Modellerinde Performans Sıralamasının Erken Stabilizasyonunun Analizi ve Optimum Epoch Belirlenmesi</vt:lpstr>
      <vt:lpstr>1. Problem Tanımı</vt:lpstr>
      <vt:lpstr>2. Çalışmanın Amacı</vt:lpstr>
      <vt:lpstr>3. Veri Seti</vt:lpstr>
      <vt:lpstr>4. Kullanılan CNN Modelleri</vt:lpstr>
      <vt:lpstr>5. Deneysel Kurulum</vt:lpstr>
      <vt:lpstr>6. Yöntem</vt:lpstr>
      <vt:lpstr>7. Sıralama Analizi</vt:lpstr>
      <vt:lpstr>8. Deney Sonuçları</vt:lpstr>
      <vt:lpstr>9. Deney Sonuçları</vt:lpstr>
      <vt:lpstr>Gelecek Çalışmalar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Emirhan AYDIN</dc:creator>
  <cp:lastModifiedBy>Emirhan AYDIN</cp:lastModifiedBy>
  <cp:revision>2</cp:revision>
  <dcterms:created xsi:type="dcterms:W3CDTF">2026-03-10T15:26:22Z</dcterms:created>
  <dcterms:modified xsi:type="dcterms:W3CDTF">2026-03-11T18:44:18Z</dcterms:modified>
</cp:coreProperties>
</file>